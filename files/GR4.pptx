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Figtree"/>
      <p:regular r:id="rId34"/>
      <p:bold r:id="rId35"/>
      <p:italic r:id="rId36"/>
      <p:boldItalic r:id="rId37"/>
    </p:embeddedFont>
    <p:embeddedFont>
      <p:font typeface="Jost Light"/>
      <p:regular r:id="rId38"/>
      <p:bold r:id="rId39"/>
      <p:italic r:id="rId40"/>
      <p:boldItalic r:id="rId41"/>
    </p:embeddedFont>
    <p:embeddedFont>
      <p:font typeface="Figtree Light"/>
      <p:regular r:id="rId42"/>
      <p:bold r:id="rId43"/>
      <p:italic r:id="rId44"/>
      <p:boldItalic r:id="rId45"/>
    </p:embeddedFont>
    <p:embeddedFont>
      <p:font typeface="Jos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i8n/cG2y2bbHvU0RlnUSqg+CmD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tLight-italic.fntdata"/><Relationship Id="rId42" Type="http://schemas.openxmlformats.org/officeDocument/2006/relationships/font" Target="fonts/FigtreeLight-regular.fntdata"/><Relationship Id="rId41" Type="http://schemas.openxmlformats.org/officeDocument/2006/relationships/font" Target="fonts/JostLight-boldItalic.fntdata"/><Relationship Id="rId44" Type="http://schemas.openxmlformats.org/officeDocument/2006/relationships/font" Target="fonts/FigtreeLight-italic.fntdata"/><Relationship Id="rId43" Type="http://schemas.openxmlformats.org/officeDocument/2006/relationships/font" Target="fonts/FigtreeLight-bold.fntdata"/><Relationship Id="rId46" Type="http://schemas.openxmlformats.org/officeDocument/2006/relationships/font" Target="fonts/Jost-regular.fntdata"/><Relationship Id="rId45" Type="http://schemas.openxmlformats.org/officeDocument/2006/relationships/font" Target="fonts/Figtree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Jost-italic.fntdata"/><Relationship Id="rId47" Type="http://schemas.openxmlformats.org/officeDocument/2006/relationships/font" Target="fonts/Jost-bold.fntdata"/><Relationship Id="rId49" Type="http://schemas.openxmlformats.org/officeDocument/2006/relationships/font" Target="fonts/Jo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Figtree-bold.fntdata"/><Relationship Id="rId34" Type="http://schemas.openxmlformats.org/officeDocument/2006/relationships/font" Target="fonts/Figtree-regular.fntdata"/><Relationship Id="rId37" Type="http://schemas.openxmlformats.org/officeDocument/2006/relationships/font" Target="fonts/Figtree-boldItalic.fntdata"/><Relationship Id="rId36" Type="http://schemas.openxmlformats.org/officeDocument/2006/relationships/font" Target="fonts/Figtree-italic.fntdata"/><Relationship Id="rId39" Type="http://schemas.openxmlformats.org/officeDocument/2006/relationships/font" Target="fonts/JostLight-bold.fntdata"/><Relationship Id="rId38" Type="http://schemas.openxmlformats.org/officeDocument/2006/relationships/font" Target="fonts/Jost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0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" name="Google Shape;13;p30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0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1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5" name="Google Shape;25;p31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8" name="Google Shape;28;p31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" name="Google Shape;38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" name="Google Shape;40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" name="Google Shape;43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44" name="Google Shape;44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45" name="Google Shape;45;p3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7" name="Google Shape;47;p33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8" name="Google Shape;48;p33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9" name="Google Shape;49;p33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33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51" name="Google Shape;51;p33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2" name="Google Shape;52;p33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53" name="Google Shape;53;p33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6" name="Google Shape;56;p3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" name="Google Shape;57;p3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9" name="Google Shape;59;p34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 b="0" i="0" sz="1400" u="none" cap="none" strike="noStrike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34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34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35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35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6" name="Google Shape;66;p35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7" name="Google Shape;67;p35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35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9" name="Google Shape;69;p35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0" name="Google Shape;70;p35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1" name="Google Shape;71;p35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2" name="Google Shape;72;p35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3" name="Google Shape;73;p35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4" name="Google Shape;74;p35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35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35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35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8" name="Google Shape;78;p35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9" name="Google Shape;79;p35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6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6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6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36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6" name="Google Shape;86;p36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7" name="Google Shape;87;p36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36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9" name="Google Shape;89;p36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90" name="Google Shape;90;p36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p36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2" name="Google Shape;92;p36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5" name="Google Shape;95;p3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p37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37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0" name="Google Shape;100;p37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1" name="Google Shape;101;p37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2" name="Google Shape;102;p37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3" name="Google Shape;103;p37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4" name="Google Shape;104;p37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5" name="Google Shape;105;p37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6" name="Google Shape;106;p37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37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8" name="Google Shape;108;p37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9" name="Google Shape;109;p37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0" name="Google Shape;110;p37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1" name="Google Shape;111;p37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2" name="Google Shape;112;p37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3" name="Google Shape;113;p37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4" name="Google Shape;114;p37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5" name="Google Shape;115;p37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38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3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39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124" name="Google Shape;124;p39"/>
          <p:cNvPicPr preferRelativeResize="0"/>
          <p:nvPr/>
        </p:nvPicPr>
        <p:blipFill rotWithShape="1">
          <a:blip r:embed="rId2">
            <a:alphaModFix/>
          </a:blip>
          <a:srcRect b="0" l="23232" r="29974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9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/>
            </a:lvl9pPr>
          </a:lstStyle>
          <a:p/>
        </p:txBody>
      </p:sp>
      <p:sp>
        <p:nvSpPr>
          <p:cNvPr id="126" name="Google Shape;126;p39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40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40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i="0" sz="7200" u="none" cap="none" strike="noStrike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4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4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40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9pPr>
          </a:lstStyle>
          <a:p/>
        </p:txBody>
      </p:sp>
      <p:sp>
        <p:nvSpPr>
          <p:cNvPr id="135" name="Google Shape;135;p40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36" name="Google Shape;136;p40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1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9" name="Google Shape;139;p41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0" name="Google Shape;140;p41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41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i="0" sz="7200" u="none" cap="none" strike="noStrike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2" name="Google Shape;142;p4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3" name="Google Shape;143;p41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4" name="Google Shape;144;p41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5" name="Google Shape;145;p41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9pPr>
          </a:lstStyle>
          <a:p/>
        </p:txBody>
      </p:sp>
      <p:sp>
        <p:nvSpPr>
          <p:cNvPr id="146" name="Google Shape;146;p41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2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42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4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1" name="Google Shape;151;p4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2" name="Google Shape;152;p42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53" name="Google Shape;153;p42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42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5" name="Google Shape;155;p42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3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43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9" name="Google Shape;159;p4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4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43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62" name="Google Shape;162;p43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8" name="Google Shape;168;p44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9" name="Google Shape;169;p44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0" name="Google Shape;170;p44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44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2" name="Google Shape;172;p44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3" name="Google Shape;173;p44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44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44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6" name="Google Shape;176;p44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5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45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0" name="Google Shape;180;p45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1" name="Google Shape;181;p45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2" name="Google Shape;182;p4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3" name="Google Shape;183;p45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4" name="Google Shape;184;p45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45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6" name="Google Shape;186;p45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45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8" name="Google Shape;188;p45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9" name="Google Shape;189;p45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45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3" name="Google Shape;193;p4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4" name="Google Shape;194;p4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6" name="Google Shape;196;p46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97" name="Google Shape;197;p46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0" name="Google Shape;200;p4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1" name="Google Shape;201;p47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47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3" name="Google Shape;203;p47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47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5" name="Google Shape;205;p47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6" name="Google Shape;206;p47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47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8" name="Google Shape;208;p47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9" name="Google Shape;209;p47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47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1" name="Google Shape;211;p47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2" name="Google Shape;212;p47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6" name="Google Shape;216;p4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7" name="Google Shape;217;p4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8" name="Google Shape;218;p48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219" name="Google Shape;219;p48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0" name="Google Shape;220;p48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221" name="Google Shape;221;p48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222" name="Google Shape;222;p48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9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5" name="Google Shape;225;p49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b="0" i="0" sz="16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6" name="Google Shape;226;p4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7" name="Google Shape;227;p4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8" name="Google Shape;228;p49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9" name="Google Shape;229;p49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49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1" name="Google Shape;231;p49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3" name="Google Shape;233;p49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4" name="Google Shape;234;p49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5" name="Google Shape;235;p49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6" name="Google Shape;236;p49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49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8" name="Google Shape;238;p49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9" name="Google Shape;239;p49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5" name="Google Shape;245;p50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6" name="Google Shape;246;p50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7" name="Google Shape;247;p50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50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49" name="Google Shape;249;p50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50" name="Google Shape;250;p50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51" name="Google Shape;251;p50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52" name="Google Shape;252;p50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53" name="Google Shape;253;p50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1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6" name="Google Shape;256;p51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57" name="Google Shape;257;p51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9" name="Google Shape;259;p51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1" name="Google Shape;261;p51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2" name="Google Shape;262;p51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3" name="Google Shape;263;p51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4" name="Google Shape;264;p51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5" name="Google Shape;265;p51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6" name="Google Shape;266;p51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7" name="Google Shape;267;p51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8" name="Google Shape;268;p51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9" name="Google Shape;269;p51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0" name="Google Shape;270;p5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1" name="Google Shape;271;p51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2" name="Google Shape;272;p51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2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5" name="Google Shape;275;p52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76" name="Google Shape;276;p5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77" name="Google Shape;277;p5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8" name="Google Shape;278;p5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9" name="Google Shape;279;p52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52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1" name="Google Shape;281;p52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52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3" name="Google Shape;283;p52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52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3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5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8" name="Google Shape;288;p5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9" name="Google Shape;289;p5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0" name="Google Shape;290;p53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1" name="Google Shape;291;p53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92" name="Google Shape;292;p53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93" name="Google Shape;293;p53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94" name="Google Shape;294;p53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95" name="Google Shape;295;p53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96" name="Google Shape;296;p53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97" name="Google Shape;297;p53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298" name="Google Shape;298;p53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299" name="Google Shape;299;p53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0" name="Google Shape;300;p53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301" name="Google Shape;301;p53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2" name="Google Shape;302;p53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303" name="Google Shape;303;p53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4" name="Google Shape;304;p53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5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5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54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54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54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2" name="Google Shape;312;p54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3" name="Google Shape;313;p54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54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5" name="Google Shape;315;p54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54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7" name="Google Shape;317;p54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8" name="Google Shape;318;p54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54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54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4" name="Google Shape;324;p5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5" name="Google Shape;325;p5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6" name="Google Shape;326;p5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9" name="Google Shape;329;p5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0" name="Google Shape;330;p5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1" name="Google Shape;331;p5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39" name="Google Shape;339;p5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40" name="Google Shape;340;p5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41" name="Google Shape;341;p5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42" name="Google Shape;342;p5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43" name="Google Shape;343;p5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6" name="Google Shape;346;p5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5" name="Google Shape;355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0" name="Google Shape;360;p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5" name="Google Shape;365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6" name="Google Shape;366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71" name="Google Shape;371;p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6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6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6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6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6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6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6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6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7" name="Google Shape;387;p6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6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6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6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7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7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7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7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7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7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7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7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7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7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7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7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7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7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7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7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7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7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7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7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7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7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7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7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7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7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7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7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7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b="0" i="0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b="0" i="0" sz="5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www.youtube.com/watch?v=Ki9hr2NmqeQ" TargetMode="External"/><Relationship Id="rId4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"/>
          <p:cNvSpPr txBox="1"/>
          <p:nvPr/>
        </p:nvSpPr>
        <p:spPr>
          <a:xfrm>
            <a:off x="1603200" y="1713400"/>
            <a:ext cx="5937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Climbing AI Coach</a:t>
            </a:r>
            <a:endParaRPr b="1" i="0" sz="36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9" name="Google Shape;439;p1"/>
          <p:cNvSpPr txBox="1"/>
          <p:nvPr/>
        </p:nvSpPr>
        <p:spPr>
          <a:xfrm>
            <a:off x="2841450" y="2374500"/>
            <a:ext cx="3461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Concept Video</a:t>
            </a:r>
            <a:endParaRPr b="0" i="0" sz="15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Owen Kang, Jiemi Niu, Yulin Yu</a:t>
            </a:r>
            <a:endParaRPr b="0" i="0" sz="15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/>
          <p:nvPr/>
        </p:nvSpPr>
        <p:spPr>
          <a:xfrm>
            <a:off x="276975" y="226350"/>
            <a:ext cx="495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Name: 3B (Bouldering Beta Buddy)</a:t>
            </a:r>
            <a:endParaRPr b="1" i="0" sz="2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5" name="Google Shape;445;p2"/>
          <p:cNvSpPr txBox="1"/>
          <p:nvPr/>
        </p:nvSpPr>
        <p:spPr>
          <a:xfrm>
            <a:off x="551800" y="1293600"/>
            <a:ext cx="8053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How did we land on the name?</a:t>
            </a:r>
            <a:endParaRPr b="1" i="0" sz="20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We wanted a name the signals climbing beta, video-based learning, community comparison, and personal coaching.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Bouldering - We especially narrowed down to bouldering, which requires the most technique, balance, and brain.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Beta - </a:t>
            </a:r>
            <a:r>
              <a:rPr b="0" i="0" lang="en" sz="1400" u="none" cap="none" strike="noStrike">
                <a:solidFill>
                  <a:srgbClr val="EEF0FF"/>
                </a:solidFill>
                <a:latin typeface="Jost"/>
                <a:ea typeface="Jost"/>
                <a:cs typeface="Jost"/>
                <a:sym typeface="Jost"/>
              </a:rPr>
              <a:t>The specific, actionable information, advice, or moves required to complete a climbing route.</a:t>
            </a:r>
            <a:endParaRPr b="0" i="0" sz="1400" u="none" cap="none" strike="noStrike">
              <a:solidFill>
                <a:srgbClr val="EEF0FF"/>
              </a:solidFill>
              <a:latin typeface="Jost"/>
              <a:ea typeface="Jost"/>
              <a:cs typeface="Jost"/>
              <a:sym typeface="Jos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400"/>
              <a:buFont typeface="Jost"/>
              <a:buAutoNum type="arabicPeriod"/>
            </a:pPr>
            <a:r>
              <a:rPr b="0" i="0" lang="en" sz="1400" u="none" cap="none" strike="noStrike">
                <a:solidFill>
                  <a:srgbClr val="EEF0FF"/>
                </a:solidFill>
                <a:latin typeface="Jost"/>
                <a:ea typeface="Jost"/>
                <a:cs typeface="Jost"/>
                <a:sym typeface="Jost"/>
              </a:rPr>
              <a:t>Buddy - Getting help from our friend AI</a:t>
            </a:r>
            <a:endParaRPr b="0" i="0" sz="1400" u="none" cap="none" strike="noStrike">
              <a:solidFill>
                <a:srgbClr val="EEF0F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"/>
          <p:cNvSpPr txBox="1"/>
          <p:nvPr/>
        </p:nvSpPr>
        <p:spPr>
          <a:xfrm>
            <a:off x="276975" y="226350"/>
            <a:ext cx="495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One-liner Value Proposition</a:t>
            </a:r>
            <a:endParaRPr b="1" i="0" sz="2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1" name="Google Shape;451;p3"/>
          <p:cNvSpPr txBox="1"/>
          <p:nvPr/>
        </p:nvSpPr>
        <p:spPr>
          <a:xfrm>
            <a:off x="1385250" y="1895400"/>
            <a:ext cx="63735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Providing a community where users can find useful videos and suggestions from others and get personalized suggestions from AI trained with data provided by users</a:t>
            </a:r>
            <a:endParaRPr b="0" i="0" sz="20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"/>
          <p:cNvSpPr txBox="1"/>
          <p:nvPr>
            <p:ph idx="3" type="title"/>
          </p:nvPr>
        </p:nvSpPr>
        <p:spPr>
          <a:xfrm>
            <a:off x="432743" y="201308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800">
                <a:latin typeface="Jost"/>
                <a:ea typeface="Jost"/>
                <a:cs typeface="Jost"/>
                <a:sym typeface="Jost"/>
              </a:rPr>
              <a:t>Problem / Solution overview</a:t>
            </a:r>
            <a:endParaRPr sz="48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"/>
          <p:cNvSpPr txBox="1"/>
          <p:nvPr>
            <p:ph idx="3" type="title"/>
          </p:nvPr>
        </p:nvSpPr>
        <p:spPr>
          <a:xfrm>
            <a:off x="228600" y="1134600"/>
            <a:ext cx="41604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000"/>
              <a:t>What’s the Problem?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Climbers get stuck and want better beta + technique feedback but mid-climb feedback breaks focus/flow, and existing solutions either require gym-installed cameras or have unreliable personal filming issues</a:t>
            </a:r>
            <a:endParaRPr sz="1500"/>
          </a:p>
        </p:txBody>
      </p:sp>
      <p:sp>
        <p:nvSpPr>
          <p:cNvPr id="462" name="Google Shape;462;p5"/>
          <p:cNvSpPr txBox="1"/>
          <p:nvPr>
            <p:ph type="title"/>
          </p:nvPr>
        </p:nvSpPr>
        <p:spPr>
          <a:xfrm>
            <a:off x="228600" y="142500"/>
            <a:ext cx="56133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200"/>
              <a:t>primary user: Alex &amp; Jackson (Climber training in busy gyms.)</a:t>
            </a:r>
            <a:endParaRPr b="1" sz="1200"/>
          </a:p>
        </p:txBody>
      </p:sp>
      <p:sp>
        <p:nvSpPr>
          <p:cNvPr id="463" name="Google Shape;463;p5"/>
          <p:cNvSpPr txBox="1"/>
          <p:nvPr>
            <p:ph idx="3" type="title"/>
          </p:nvPr>
        </p:nvSpPr>
        <p:spPr>
          <a:xfrm>
            <a:off x="4572000" y="2107275"/>
            <a:ext cx="4512600" cy="19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000"/>
              <a:t>What’s the Solution?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500"/>
              <a:t>A video-based AI coach that works in any gym, lets you record easily, then delivers fast post-climb insights + compare-your-beta vs community patterns, while learning your personal style over time.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"/>
          <p:cNvSpPr txBox="1"/>
          <p:nvPr>
            <p:ph idx="3" type="title"/>
          </p:nvPr>
        </p:nvSpPr>
        <p:spPr>
          <a:xfrm>
            <a:off x="432743" y="201308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800">
                <a:latin typeface="Jost"/>
                <a:ea typeface="Jost"/>
                <a:cs typeface="Jost"/>
                <a:sym typeface="Jost"/>
              </a:rPr>
              <a:t>Market Research</a:t>
            </a:r>
            <a:endParaRPr sz="48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doesn’t work?</a:t>
            </a:r>
            <a:endParaRPr/>
          </a:p>
        </p:txBody>
      </p:sp>
      <p:sp>
        <p:nvSpPr>
          <p:cNvPr id="474" name="Google Shape;474;p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Real-time behavior analysis; route difficulty and hold success rates.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Lets users compare performance patterns.</a:t>
            </a:r>
            <a:endParaRPr/>
          </a:p>
        </p:txBody>
      </p:sp>
      <p:sp>
        <p:nvSpPr>
          <p:cNvPr id="475" name="Google Shape;475;p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Not installed in every climbing gym, so it's only applicable at specific climbing gyms.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7"/>
          <p:cNvSpPr txBox="1"/>
          <p:nvPr>
            <p:ph idx="3" type="body"/>
          </p:nvPr>
        </p:nvSpPr>
        <p:spPr>
          <a:xfrm>
            <a:off x="2539825" y="3578400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keep the community-level analytics idea, but avoid infrastructure lock-in by using personal recording and shared route database.</a:t>
            </a:r>
            <a:endParaRPr/>
          </a:p>
        </p:txBody>
      </p:sp>
      <p:sp>
        <p:nvSpPr>
          <p:cNvPr id="477" name="Google Shape;477;p7"/>
          <p:cNvSpPr txBox="1"/>
          <p:nvPr>
            <p:ph type="title"/>
          </p:nvPr>
        </p:nvSpPr>
        <p:spPr>
          <a:xfrm>
            <a:off x="366775" y="2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SPOT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300"/>
              <a:t>Gym-installed cameras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300"/>
              <a:t>provide real-time user behavior analysis and track the frequency (probability) of reaching each hold,</a:t>
            </a:r>
            <a:endParaRPr sz="1300"/>
          </a:p>
        </p:txBody>
      </p:sp>
      <p:sp>
        <p:nvSpPr>
          <p:cNvPr id="478" name="Google Shape;478;p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works for out problem?</a:t>
            </a:r>
            <a:endParaRPr/>
          </a:p>
        </p:txBody>
      </p:sp>
      <p:sp>
        <p:nvSpPr>
          <p:cNvPr id="479" name="Google Shape;479;p7"/>
          <p:cNvSpPr txBox="1"/>
          <p:nvPr>
            <p:ph idx="8" type="subTitle"/>
          </p:nvPr>
        </p:nvSpPr>
        <p:spPr>
          <a:xfrm>
            <a:off x="2652750" y="3097188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Implication for our concept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doesn’t work?</a:t>
            </a:r>
            <a:endParaRPr/>
          </a:p>
        </p:txBody>
      </p:sp>
      <p:sp>
        <p:nvSpPr>
          <p:cNvPr id="485" name="Google Shape;485;p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Provides detailed information about my climb.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Because it's a personal camera, other people might walk in front of it or obstacles might block the view, causing me to miss some of the moves.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8"/>
          <p:cNvSpPr txBox="1"/>
          <p:nvPr>
            <p:ph idx="3" type="body"/>
          </p:nvPr>
        </p:nvSpPr>
        <p:spPr>
          <a:xfrm>
            <a:off x="2539825" y="3578400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design for gym reality, quick setup, stable angle guidance, and multi-attempt aggregation.</a:t>
            </a:r>
            <a:endParaRPr/>
          </a:p>
        </p:txBody>
      </p:sp>
      <p:sp>
        <p:nvSpPr>
          <p:cNvPr id="488" name="Google Shape;488;p8"/>
          <p:cNvSpPr txBox="1"/>
          <p:nvPr>
            <p:ph type="title"/>
          </p:nvPr>
        </p:nvSpPr>
        <p:spPr>
          <a:xfrm>
            <a:off x="366775" y="2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Belay 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300"/>
              <a:t>personal camera body tracking</a:t>
            </a:r>
            <a:endParaRPr sz="1300"/>
          </a:p>
        </p:txBody>
      </p:sp>
      <p:sp>
        <p:nvSpPr>
          <p:cNvPr id="489" name="Google Shape;489;p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works for out problem?</a:t>
            </a:r>
            <a:endParaRPr/>
          </a:p>
        </p:txBody>
      </p:sp>
      <p:sp>
        <p:nvSpPr>
          <p:cNvPr id="490" name="Google Shape;490;p8"/>
          <p:cNvSpPr txBox="1"/>
          <p:nvPr>
            <p:ph idx="8" type="subTitle"/>
          </p:nvPr>
        </p:nvSpPr>
        <p:spPr>
          <a:xfrm>
            <a:off x="2652750" y="3097188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Implication for our concept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doesn’t work?</a:t>
            </a:r>
            <a:endParaRPr/>
          </a:p>
        </p:txBody>
      </p:sp>
      <p:sp>
        <p:nvSpPr>
          <p:cNvPr id="496" name="Google Shape;496;p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Provides visualized answers, incorporates my physical characteristics.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Because it uses a personal camera, other people passing by or obstacles may cause the system to miss movements.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9"/>
          <p:cNvSpPr txBox="1"/>
          <p:nvPr>
            <p:ph idx="3" type="body"/>
          </p:nvPr>
        </p:nvSpPr>
        <p:spPr>
          <a:xfrm>
            <a:off x="2539825" y="3578400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combine body-aware visualization with community beta comparison.</a:t>
            </a:r>
            <a:endParaRPr/>
          </a:p>
        </p:txBody>
      </p:sp>
      <p:sp>
        <p:nvSpPr>
          <p:cNvPr id="499" name="Google Shape;499;p9"/>
          <p:cNvSpPr txBox="1"/>
          <p:nvPr>
            <p:ph type="title"/>
          </p:nvPr>
        </p:nvSpPr>
        <p:spPr>
          <a:xfrm>
            <a:off x="366775" y="2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climbing.ai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When a climber uploads their video, AI analyzes their height, physical characteristics, and gender, and then visualize.</a:t>
            </a:r>
            <a:endParaRPr sz="1200"/>
          </a:p>
        </p:txBody>
      </p:sp>
      <p:sp>
        <p:nvSpPr>
          <p:cNvPr id="500" name="Google Shape;500;p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works for out problem?</a:t>
            </a:r>
            <a:endParaRPr/>
          </a:p>
        </p:txBody>
      </p:sp>
      <p:sp>
        <p:nvSpPr>
          <p:cNvPr id="501" name="Google Shape;501;p9"/>
          <p:cNvSpPr txBox="1"/>
          <p:nvPr>
            <p:ph idx="8" type="subTitle"/>
          </p:nvPr>
        </p:nvSpPr>
        <p:spPr>
          <a:xfrm>
            <a:off x="2652750" y="3097188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Implication for our concept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50" y="0"/>
            <a:ext cx="69938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1"/>
          <p:cNvSpPr txBox="1"/>
          <p:nvPr>
            <p:ph idx="3" type="title"/>
          </p:nvPr>
        </p:nvSpPr>
        <p:spPr>
          <a:xfrm>
            <a:off x="432743" y="201308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800">
                <a:latin typeface="Jost"/>
                <a:ea typeface="Jost"/>
                <a:cs typeface="Jost"/>
                <a:sym typeface="Jost"/>
              </a:rPr>
              <a:t>Task</a:t>
            </a:r>
            <a:endParaRPr sz="48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"/>
          <p:cNvSpPr txBox="1"/>
          <p:nvPr>
            <p:ph idx="4" type="subTitle"/>
          </p:nvPr>
        </p:nvSpPr>
        <p:spPr>
          <a:xfrm>
            <a:off x="3383700" y="406775"/>
            <a:ext cx="228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/>
              <a:t>Simple-1</a:t>
            </a:r>
            <a:endParaRPr b="1" sz="2800"/>
          </a:p>
        </p:txBody>
      </p:sp>
      <p:sp>
        <p:nvSpPr>
          <p:cNvPr id="517" name="Google Shape;517;p12"/>
          <p:cNvSpPr txBox="1"/>
          <p:nvPr/>
        </p:nvSpPr>
        <p:spPr>
          <a:xfrm>
            <a:off x="3413400" y="1801500"/>
            <a:ext cx="2317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Why?</a:t>
            </a:r>
            <a:endParaRPr b="1" i="0" sz="28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8" name="Google Shape;518;p12"/>
          <p:cNvSpPr txBox="1"/>
          <p:nvPr/>
        </p:nvSpPr>
        <p:spPr>
          <a:xfrm>
            <a:off x="2056200" y="2489200"/>
            <a:ext cx="5031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Even a shy climber can easily look at how others behave on the route when taking rests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9" name="Google Shape;519;p12"/>
          <p:cNvSpPr txBox="1"/>
          <p:nvPr>
            <p:ph idx="1" type="body"/>
          </p:nvPr>
        </p:nvSpPr>
        <p:spPr>
          <a:xfrm>
            <a:off x="2481900" y="1104825"/>
            <a:ext cx="4180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see how others climb on that route.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"/>
          <p:cNvSpPr txBox="1"/>
          <p:nvPr>
            <p:ph idx="4" type="subTitle"/>
          </p:nvPr>
        </p:nvSpPr>
        <p:spPr>
          <a:xfrm>
            <a:off x="3383700" y="406775"/>
            <a:ext cx="228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/>
              <a:t>Simple-2</a:t>
            </a:r>
            <a:endParaRPr b="1" sz="2800"/>
          </a:p>
        </p:txBody>
      </p:sp>
      <p:sp>
        <p:nvSpPr>
          <p:cNvPr id="525" name="Google Shape;525;p13"/>
          <p:cNvSpPr txBox="1"/>
          <p:nvPr/>
        </p:nvSpPr>
        <p:spPr>
          <a:xfrm>
            <a:off x="3413400" y="1801500"/>
            <a:ext cx="2317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Why?</a:t>
            </a:r>
            <a:endParaRPr b="1" i="0" sz="28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2056200" y="2489200"/>
            <a:ext cx="5031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There are so many resources online and on the local forum, including videos for different routes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7" name="Google Shape;527;p13"/>
          <p:cNvSpPr txBox="1"/>
          <p:nvPr>
            <p:ph idx="1" type="body"/>
          </p:nvPr>
        </p:nvSpPr>
        <p:spPr>
          <a:xfrm>
            <a:off x="2481900" y="1104825"/>
            <a:ext cx="4180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finds video to see the beta from that route.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br>
              <a:rPr lang="en" sz="1400"/>
            </a:br>
            <a:br>
              <a:rPr lang="en" sz="1400"/>
            </a:b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4"/>
          <p:cNvSpPr txBox="1"/>
          <p:nvPr>
            <p:ph idx="1" type="body"/>
          </p:nvPr>
        </p:nvSpPr>
        <p:spPr>
          <a:xfrm>
            <a:off x="2481900" y="1104825"/>
            <a:ext cx="4180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learn from some general suggestions for that route/similar ones</a:t>
            </a:r>
            <a:br>
              <a:rPr lang="en" sz="1400"/>
            </a:br>
            <a:br>
              <a:rPr lang="en" sz="1400"/>
            </a:b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</p:txBody>
      </p:sp>
      <p:sp>
        <p:nvSpPr>
          <p:cNvPr id="533" name="Google Shape;533;p14"/>
          <p:cNvSpPr txBox="1"/>
          <p:nvPr>
            <p:ph idx="4" type="subTitle"/>
          </p:nvPr>
        </p:nvSpPr>
        <p:spPr>
          <a:xfrm>
            <a:off x="3552750" y="398425"/>
            <a:ext cx="1944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/>
              <a:t>Moderate-1</a:t>
            </a:r>
            <a:endParaRPr b="1" sz="2800"/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2800"/>
          </a:p>
        </p:txBody>
      </p:sp>
      <p:sp>
        <p:nvSpPr>
          <p:cNvPr id="534" name="Google Shape;534;p14"/>
          <p:cNvSpPr txBox="1"/>
          <p:nvPr/>
        </p:nvSpPr>
        <p:spPr>
          <a:xfrm>
            <a:off x="3413400" y="1801500"/>
            <a:ext cx="2317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Why?</a:t>
            </a:r>
            <a:endParaRPr b="1" i="0" sz="28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35" name="Google Shape;535;p14"/>
          <p:cNvSpPr txBox="1"/>
          <p:nvPr/>
        </p:nvSpPr>
        <p:spPr>
          <a:xfrm>
            <a:off x="2056200" y="2489200"/>
            <a:ext cx="5031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Taking effort to decide which suggestion make sense for him, and apply these suggestions in next try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"/>
          <p:cNvSpPr txBox="1"/>
          <p:nvPr>
            <p:ph idx="1" type="body"/>
          </p:nvPr>
        </p:nvSpPr>
        <p:spPr>
          <a:xfrm>
            <a:off x="2852550" y="1057963"/>
            <a:ext cx="3569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Uploads his video and gets feedback from AI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</p:txBody>
      </p:sp>
      <p:sp>
        <p:nvSpPr>
          <p:cNvPr id="541" name="Google Shape;541;p15"/>
          <p:cNvSpPr txBox="1"/>
          <p:nvPr>
            <p:ph idx="4" type="subTitle"/>
          </p:nvPr>
        </p:nvSpPr>
        <p:spPr>
          <a:xfrm>
            <a:off x="3552750" y="398425"/>
            <a:ext cx="1944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800"/>
              <a:t>Moderate-2</a:t>
            </a:r>
            <a:endParaRPr b="1" sz="2800"/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2800"/>
          </a:p>
        </p:txBody>
      </p:sp>
      <p:sp>
        <p:nvSpPr>
          <p:cNvPr id="542" name="Google Shape;542;p15"/>
          <p:cNvSpPr txBox="1"/>
          <p:nvPr/>
        </p:nvSpPr>
        <p:spPr>
          <a:xfrm>
            <a:off x="3413400" y="1801500"/>
            <a:ext cx="2317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Why?</a:t>
            </a:r>
            <a:endParaRPr b="1" i="0" sz="28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2056200" y="2489200"/>
            <a:ext cx="5031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Posting videos takes effort, some users may not want to upload their own videos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6"/>
          <p:cNvSpPr txBox="1"/>
          <p:nvPr>
            <p:ph idx="1" type="body"/>
          </p:nvPr>
        </p:nvSpPr>
        <p:spPr>
          <a:xfrm>
            <a:off x="2800050" y="1147825"/>
            <a:ext cx="3543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Getting more personalized suggestions overtime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sp>
        <p:nvSpPr>
          <p:cNvPr id="549" name="Google Shape;549;p16"/>
          <p:cNvSpPr txBox="1"/>
          <p:nvPr>
            <p:ph idx="4" type="subTitle"/>
          </p:nvPr>
        </p:nvSpPr>
        <p:spPr>
          <a:xfrm>
            <a:off x="3552750" y="398425"/>
            <a:ext cx="1944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/>
              <a:t>Complex</a:t>
            </a:r>
            <a:endParaRPr b="1" sz="2800"/>
          </a:p>
        </p:txBody>
      </p:sp>
      <p:sp>
        <p:nvSpPr>
          <p:cNvPr id="550" name="Google Shape;550;p16"/>
          <p:cNvSpPr txBox="1"/>
          <p:nvPr/>
        </p:nvSpPr>
        <p:spPr>
          <a:xfrm>
            <a:off x="3413400" y="1801500"/>
            <a:ext cx="2317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Why?</a:t>
            </a:r>
            <a:endParaRPr b="1" i="0" sz="28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1" name="Google Shape;551;p16"/>
          <p:cNvSpPr txBox="1"/>
          <p:nvPr/>
        </p:nvSpPr>
        <p:spPr>
          <a:xfrm>
            <a:off x="2056200" y="2489200"/>
            <a:ext cx="5031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General suggestions are enough for those "not-powered customers", they don't have enough motivation for doing that; keeping posting videos(for AI to learn about the customer) is hard as well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7"/>
          <p:cNvSpPr txBox="1"/>
          <p:nvPr>
            <p:ph idx="3" type="title"/>
          </p:nvPr>
        </p:nvSpPr>
        <p:spPr>
          <a:xfrm>
            <a:off x="432743" y="201308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800">
                <a:latin typeface="Jost"/>
                <a:ea typeface="Jost"/>
                <a:cs typeface="Jost"/>
                <a:sym typeface="Jost"/>
              </a:rPr>
              <a:t>Storyboarding</a:t>
            </a:r>
            <a:endParaRPr sz="48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8" title="Slot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3556"/>
            <a:ext cx="9144000" cy="2291938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8"/>
          <p:cNvSpPr txBox="1"/>
          <p:nvPr>
            <p:ph idx="1" type="body"/>
          </p:nvPr>
        </p:nvSpPr>
        <p:spPr>
          <a:xfrm>
            <a:off x="2800050" y="571700"/>
            <a:ext cx="3543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[Mood Change]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passionate → discouraged 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sp>
        <p:nvSpPr>
          <p:cNvPr id="563" name="Google Shape;563;p18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[Setting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hard-working → giving up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19" title="Slot2.png"/>
          <p:cNvPicPr preferRelativeResize="0"/>
          <p:nvPr/>
        </p:nvPicPr>
        <p:blipFill rotWithShape="1">
          <a:blip r:embed="rId3">
            <a:alphaModFix/>
          </a:blip>
          <a:srcRect b="0" l="0" r="5023" t="0"/>
          <a:stretch/>
        </p:blipFill>
        <p:spPr>
          <a:xfrm>
            <a:off x="3024288" y="1135475"/>
            <a:ext cx="3095424" cy="2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9"/>
          <p:cNvSpPr txBox="1"/>
          <p:nvPr>
            <p:ph idx="1" type="body"/>
          </p:nvPr>
        </p:nvSpPr>
        <p:spPr>
          <a:xfrm>
            <a:off x="2800050" y="571700"/>
            <a:ext cx="3543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[Mood Change]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discouraged → hopeful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sp>
        <p:nvSpPr>
          <p:cNvPr id="570" name="Google Shape;570;p19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[Setting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giving up → improvement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0: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0"/>
          <p:cNvSpPr txBox="1"/>
          <p:nvPr>
            <p:ph idx="1" type="body"/>
          </p:nvPr>
        </p:nvSpPr>
        <p:spPr>
          <a:xfrm>
            <a:off x="2586600" y="555000"/>
            <a:ext cx="3970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[Task 1]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see how others climb on that route.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pic>
        <p:nvPicPr>
          <p:cNvPr id="576" name="Google Shape;5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3000"/>
            <a:ext cx="9144001" cy="231863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0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[Mood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hopeful → frustrated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0:2</a:t>
            </a:r>
            <a:r>
              <a:rPr lang="en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"/>
          <p:cNvSpPr txBox="1"/>
          <p:nvPr>
            <p:ph idx="1" type="body"/>
          </p:nvPr>
        </p:nvSpPr>
        <p:spPr>
          <a:xfrm>
            <a:off x="2393100" y="391075"/>
            <a:ext cx="4357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[Task 2]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learn from some general suggestions for that route/similar ones</a:t>
            </a:r>
            <a:br>
              <a:rPr lang="en" sz="1400"/>
            </a:br>
            <a:br>
              <a:rPr lang="en" sz="1400"/>
            </a:b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pic>
        <p:nvPicPr>
          <p:cNvPr id="583" name="Google Shape;5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675" y="1211463"/>
            <a:ext cx="3169799" cy="21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1"/>
          <p:cNvPicPr preferRelativeResize="0"/>
          <p:nvPr/>
        </p:nvPicPr>
        <p:blipFill rotWithShape="1">
          <a:blip r:embed="rId4">
            <a:alphaModFix/>
          </a:blip>
          <a:srcRect b="0" l="0" r="47103" t="0"/>
          <a:stretch/>
        </p:blipFill>
        <p:spPr>
          <a:xfrm>
            <a:off x="4417425" y="1211475"/>
            <a:ext cx="3169800" cy="212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1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[Mood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frustrated → curious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0:37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2"/>
          <p:cNvSpPr txBox="1"/>
          <p:nvPr>
            <p:ph idx="1" type="body"/>
          </p:nvPr>
        </p:nvSpPr>
        <p:spPr>
          <a:xfrm>
            <a:off x="2393100" y="391075"/>
            <a:ext cx="4357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[Task 3]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the user learn from some general suggestions for that route/similar ones</a:t>
            </a:r>
            <a:br>
              <a:rPr lang="en" sz="1400"/>
            </a:br>
            <a:br>
              <a:rPr lang="en" sz="1400"/>
            </a:b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pic>
        <p:nvPicPr>
          <p:cNvPr id="591" name="Google Shape;591;p22" title="Slot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260" y="1127977"/>
            <a:ext cx="2551582" cy="212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2"/>
          <p:cNvSpPr txBox="1"/>
          <p:nvPr/>
        </p:nvSpPr>
        <p:spPr>
          <a:xfrm>
            <a:off x="3025050" y="37407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[Mood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curious → relieved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0:53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3"/>
          <p:cNvSpPr txBox="1"/>
          <p:nvPr>
            <p:ph idx="1" type="body"/>
          </p:nvPr>
        </p:nvSpPr>
        <p:spPr>
          <a:xfrm>
            <a:off x="2393100" y="391075"/>
            <a:ext cx="4357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[Task 4]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uploads his video and gets feedback from AI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sp>
        <p:nvSpPr>
          <p:cNvPr id="598" name="Google Shape;598;p23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[Mood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relieved → motivated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1:</a:t>
            </a:r>
            <a:r>
              <a:rPr lang="en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99" name="Google Shape;5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325" y="1308975"/>
            <a:ext cx="31731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" y="1308975"/>
            <a:ext cx="59912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 txBox="1"/>
          <p:nvPr>
            <p:ph idx="1" type="body"/>
          </p:nvPr>
        </p:nvSpPr>
        <p:spPr>
          <a:xfrm>
            <a:off x="2393100" y="391075"/>
            <a:ext cx="4357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[Task 5]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getting more personalized suggestions overtime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sp>
        <p:nvSpPr>
          <p:cNvPr id="606" name="Google Shape;606;p24"/>
          <p:cNvSpPr txBox="1"/>
          <p:nvPr/>
        </p:nvSpPr>
        <p:spPr>
          <a:xfrm>
            <a:off x="2009250" y="3475500"/>
            <a:ext cx="5031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[Mood change]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motivated → confident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1:</a:t>
            </a:r>
            <a:r>
              <a:rPr lang="en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25</a:t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607" name="Google Shape;6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8225"/>
            <a:ext cx="9144001" cy="2460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5"/>
          <p:cNvSpPr txBox="1"/>
          <p:nvPr>
            <p:ph idx="1" type="body"/>
          </p:nvPr>
        </p:nvSpPr>
        <p:spPr>
          <a:xfrm>
            <a:off x="2393100" y="391075"/>
            <a:ext cx="4357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[Resolution]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Successfully climbed a difficult route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</p:txBody>
      </p:sp>
      <p:pic>
        <p:nvPicPr>
          <p:cNvPr id="613" name="Google Shape;613;p25" title="屏幕截图 2026-02-06 2340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29200"/>
            <a:ext cx="9144000" cy="219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6"/>
          <p:cNvSpPr txBox="1"/>
          <p:nvPr>
            <p:ph idx="3" type="title"/>
          </p:nvPr>
        </p:nvSpPr>
        <p:spPr>
          <a:xfrm>
            <a:off x="432743" y="201308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800">
                <a:latin typeface="Jost"/>
                <a:ea typeface="Jost"/>
                <a:cs typeface="Jost"/>
                <a:sym typeface="Jost"/>
              </a:rPr>
              <a:t>Concept Video</a:t>
            </a:r>
            <a:endParaRPr sz="48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CapCut I made this amazing video with CapCut. Open the link to try it out:  capcut.com/tools/desktop-video-editor" id="623" name="Google Shape;623;p27" title="unknown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7338" y="545375"/>
            <a:ext cx="6963225" cy="39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